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12480" y="3977639"/>
            <a:ext cx="4389120" cy="4389120"/>
          </a:xfrm>
          <a:prstGeom prst="ellipse">
            <a:avLst/>
          </a:prstGeom>
          <a:solidFill>
            <a:srgbClr val="B53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493776"/>
            <a:ext cx="786384" cy="7863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bconnec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03504"/>
            <a:ext cx="588776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1719072"/>
            <a:ext cx="5943600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rial"/>
              </a:rPr>
              <a:t>SB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95728"/>
            <a:ext cx="521208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6EBFF"/>
                </a:solidFill>
                <a:latin typeface="Arial"/>
              </a:rPr>
              <a:t>Client Feature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944368"/>
            <a:ext cx="6492240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EEF1FF"/>
                </a:solidFill>
                <a:latin typeface="Arial"/>
              </a:rPr>
              <a:t>A business community portal for member profiles, opportunity requests, meetings, attendance, admin operations, and future payments.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3950208"/>
            <a:ext cx="2148840" cy="292608"/>
          </a:xfrm>
          <a:prstGeom prst="roundRect">
            <a:avLst/>
          </a:prstGeom>
          <a:solidFill>
            <a:srgbClr val="EEF1FF"/>
          </a:solidFill>
          <a:ln w="12700">
            <a:solidFill>
              <a:srgbClr val="EE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4018788"/>
            <a:ext cx="2002536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F3FB8"/>
                </a:solidFill>
                <a:latin typeface="Arial"/>
              </a:rPr>
              <a:t>No Politics Only 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6199632"/>
            <a:ext cx="38404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E2E8FF"/>
                </a:solidFill>
                <a:latin typeface="Arial"/>
              </a:rPr>
              <a:t>Prepared for client review -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389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F3FB8"/>
                </a:solidFill>
                <a:latin typeface="Arial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68096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82034"/>
                </a:solidFill>
                <a:latin typeface="Arial"/>
              </a:rPr>
              <a:t>Product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61288"/>
            <a:ext cx="859536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F6C82"/>
                </a:solidFill>
                <a:latin typeface="Arial"/>
              </a:rPr>
              <a:t>SB Connect brings membership, business discovery, opportunities, attendance, and admin governance into one portal.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E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37960"/>
            <a:ext cx="29260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5F6C82"/>
                </a:solidFill>
                <a:latin typeface="Arial"/>
              </a:rPr>
              <a:t>SB Connect - Client Feature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3774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>
                <a:solidFill>
                  <a:srgbClr val="5F6C82"/>
                </a:solidFill>
                <a:latin typeface="Arial"/>
              </a:rPr>
              <a:t>No Politics Only 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24688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2468880" cy="73152"/>
          </a:xfrm>
          <a:prstGeom prst="rect">
            <a:avLst/>
          </a:prstGeom>
          <a:solidFill>
            <a:srgbClr val="2F3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32104" y="1856232"/>
            <a:ext cx="384048" cy="384048"/>
          </a:xfrm>
          <a:prstGeom prst="ellipse">
            <a:avLst/>
          </a:prstGeom>
          <a:solidFill>
            <a:srgbClr val="2F3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8971" y="1924812"/>
            <a:ext cx="201168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874520"/>
            <a:ext cx="1719072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Member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313432"/>
            <a:ext cx="2066544" cy="4754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Secure login, profile setup, directory browsing, requests, chats, RSVPs, attendance, and deal recording.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691640"/>
            <a:ext cx="24688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29000" y="1691640"/>
            <a:ext cx="2468880" cy="73152"/>
          </a:xfrm>
          <a:prstGeom prst="rect">
            <a:avLst/>
          </a:prstGeom>
          <a:solidFill>
            <a:srgbClr val="168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575304" y="1856232"/>
            <a:ext cx="384048" cy="384048"/>
          </a:xfrm>
          <a:prstGeom prst="ellipse">
            <a:avLst/>
          </a:prstGeom>
          <a:solidFill>
            <a:srgbClr val="168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62172" y="1924812"/>
            <a:ext cx="201168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0791" y="1874520"/>
            <a:ext cx="1719072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Business Exchange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2313432"/>
            <a:ext cx="2066544" cy="4754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Members post requirements, pitch for work, award contracts, and track value generated in the network.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91640"/>
            <a:ext cx="24688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1691640"/>
            <a:ext cx="2468880" cy="73152"/>
          </a:xfrm>
          <a:prstGeom prst="rect">
            <a:avLst/>
          </a:prstGeom>
          <a:solidFill>
            <a:srgbClr val="C99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18504" y="1856232"/>
            <a:ext cx="384048" cy="384048"/>
          </a:xfrm>
          <a:prstGeom prst="ellipse">
            <a:avLst/>
          </a:prstGeom>
          <a:solidFill>
            <a:srgbClr val="C99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5372" y="1924812"/>
            <a:ext cx="201168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1874520"/>
            <a:ext cx="1719072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Meeting 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313432"/>
            <a:ext cx="2066544" cy="4754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Meeting announcements, RSVP, QR attendance links, attendance history, and compliance visibility.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1691640"/>
            <a:ext cx="24688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915400" y="1691640"/>
            <a:ext cx="2468880" cy="73152"/>
          </a:xfrm>
          <a:prstGeom prst="rect">
            <a:avLst/>
          </a:prstGeom>
          <a:solidFill>
            <a:srgbClr val="B53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061704" y="1856232"/>
            <a:ext cx="384048" cy="384048"/>
          </a:xfrm>
          <a:prstGeom prst="ellipse">
            <a:avLst/>
          </a:prstGeom>
          <a:solidFill>
            <a:srgbClr val="B53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8572" y="1924812"/>
            <a:ext cx="201168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37192" y="1874520"/>
            <a:ext cx="1719072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Admin Console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8" y="2313432"/>
            <a:ext cx="2066544" cy="4754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Approvals, roles, meetings, notifications, issue reports, exports, audit reports, and health checks.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3657600"/>
            <a:ext cx="2263140" cy="354330"/>
          </a:xfrm>
          <a:prstGeom prst="rect">
            <a:avLst/>
          </a:prstGeom>
          <a:solidFill>
            <a:srgbClr val="EFF3FF"/>
          </a:solidFill>
          <a:ln w="889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4128" y="3767328"/>
            <a:ext cx="2061972" cy="20802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182034"/>
                </a:solidFill>
                <a:latin typeface="Arial"/>
              </a:rPr>
              <a:t>Who uses it?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77540" y="3657600"/>
            <a:ext cx="5040630" cy="354330"/>
          </a:xfrm>
          <a:prstGeom prst="rect">
            <a:avLst/>
          </a:prstGeom>
          <a:solidFill>
            <a:srgbClr val="EFF3FF"/>
          </a:solidFill>
          <a:ln w="889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87268" y="3767328"/>
            <a:ext cx="4839462" cy="20802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182034"/>
                </a:solidFill>
                <a:latin typeface="Arial"/>
              </a:rPr>
              <a:t>What they 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18170" y="3657600"/>
            <a:ext cx="2983229" cy="354330"/>
          </a:xfrm>
          <a:prstGeom prst="rect">
            <a:avLst/>
          </a:prstGeom>
          <a:solidFill>
            <a:srgbClr val="EFF3FF"/>
          </a:solidFill>
          <a:ln w="889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27898" y="3767328"/>
            <a:ext cx="2782061" cy="20802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182034"/>
                </a:solidFill>
                <a:latin typeface="Arial"/>
              </a:rPr>
              <a:t>Outcome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4011930"/>
            <a:ext cx="2263140" cy="354330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24128" y="4112514"/>
            <a:ext cx="2061972" cy="24460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Members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77540" y="4011930"/>
            <a:ext cx="5040630" cy="354330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87268" y="4112514"/>
            <a:ext cx="4839462" cy="24460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Create profiles, find businesses, post needs, pitch, attend meetings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18170" y="4011930"/>
            <a:ext cx="2983229" cy="354330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27898" y="4112514"/>
            <a:ext cx="2782061" cy="24460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More business visibility and participation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4366260"/>
            <a:ext cx="2263140" cy="354330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24128" y="4466844"/>
            <a:ext cx="2061972" cy="24460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Admins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77540" y="4366260"/>
            <a:ext cx="5040630" cy="354330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87268" y="4466844"/>
            <a:ext cx="4839462" cy="24460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Verify members, manage meetings, review reports, export data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18170" y="4366260"/>
            <a:ext cx="2983229" cy="354330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27898" y="4466844"/>
            <a:ext cx="2782061" cy="24460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Centralized community operations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" y="4720590"/>
            <a:ext cx="2263140" cy="354330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4128" y="4821174"/>
            <a:ext cx="2061972" cy="24460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Leadership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77540" y="4720590"/>
            <a:ext cx="5040630" cy="354330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287268" y="4821174"/>
            <a:ext cx="4839462" cy="24460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Review business value, attendance, activity, and roadmap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18170" y="4720590"/>
            <a:ext cx="2983229" cy="354330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27898" y="4821174"/>
            <a:ext cx="2782061" cy="24460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Better governance and growth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389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F3FB8"/>
                </a:solidFill>
                <a:latin typeface="Arial"/>
              </a:rPr>
              <a:t>MEMBER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68096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82034"/>
                </a:solidFill>
                <a:latin typeface="Arial"/>
              </a:rPr>
              <a:t>End-user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61288"/>
            <a:ext cx="859536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F6C82"/>
                </a:solidFill>
                <a:latin typeface="Arial"/>
              </a:rPr>
              <a:t>A simple path from account creation to active business participation.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E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37960"/>
            <a:ext cx="29260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5F6C82"/>
                </a:solidFill>
                <a:latin typeface="Arial"/>
              </a:rPr>
              <a:t>SB Connect - Client Feature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3774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>
                <a:solidFill>
                  <a:srgbClr val="5F6C82"/>
                </a:solidFill>
                <a:latin typeface="Arial"/>
              </a:rPr>
              <a:t>No Politics Only 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57400"/>
            <a:ext cx="192024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04672" y="2221992"/>
            <a:ext cx="310896" cy="310896"/>
          </a:xfrm>
          <a:prstGeom prst="ellipse">
            <a:avLst/>
          </a:prstGeom>
          <a:solidFill>
            <a:srgbClr val="2F3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1540" y="2276856"/>
            <a:ext cx="13716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2203704"/>
            <a:ext cx="1225296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82034"/>
                </a:solidFill>
                <a:latin typeface="Arial"/>
              </a:rPr>
              <a:t>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560320"/>
            <a:ext cx="1591056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F6C82"/>
                </a:solidFill>
                <a:latin typeface="Arial"/>
              </a:rPr>
              <a:t>Create account with name, email, phone, password.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395728"/>
            <a:ext cx="34747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5F6C82"/>
                </a:solidFill>
                <a:latin typeface="Arial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07791" y="2057400"/>
            <a:ext cx="192024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054096" y="2221992"/>
            <a:ext cx="310896" cy="310896"/>
          </a:xfrm>
          <a:prstGeom prst="ellipse">
            <a:avLst/>
          </a:prstGeom>
          <a:solidFill>
            <a:srgbClr val="2F3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40963" y="2276856"/>
            <a:ext cx="13716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203704"/>
            <a:ext cx="1225296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82034"/>
                </a:solidFill>
                <a:latin typeface="Arial"/>
              </a:rPr>
              <a:t>Create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2560320"/>
            <a:ext cx="1591056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F6C82"/>
                </a:solidFill>
                <a:latin typeface="Arial"/>
              </a:rPr>
              <a:t>Add company, categories, keywords, photo, catalog.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395728"/>
            <a:ext cx="34747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5F6C82"/>
                </a:solidFill>
                <a:latin typeface="Arial"/>
              </a:rPr>
              <a:t>-&gt;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57216" y="2057400"/>
            <a:ext cx="192024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303520" y="2221992"/>
            <a:ext cx="310896" cy="310896"/>
          </a:xfrm>
          <a:prstGeom prst="ellipse">
            <a:avLst/>
          </a:prstGeom>
          <a:solidFill>
            <a:srgbClr val="2F3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90388" y="2276856"/>
            <a:ext cx="13716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05855" y="2203704"/>
            <a:ext cx="1225296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82034"/>
                </a:solidFill>
                <a:latin typeface="Arial"/>
              </a:rPr>
              <a:t>Get 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7" y="2560320"/>
            <a:ext cx="1591056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F6C82"/>
                </a:solidFill>
                <a:latin typeface="Arial"/>
              </a:rPr>
              <a:t>Admin verifies profile and member status.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2395728"/>
            <a:ext cx="34747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5F6C82"/>
                </a:solidFill>
                <a:latin typeface="Arial"/>
              </a:rPr>
              <a:t>-&gt;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2057400"/>
            <a:ext cx="192024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52944" y="2221992"/>
            <a:ext cx="310896" cy="310896"/>
          </a:xfrm>
          <a:prstGeom prst="ellipse">
            <a:avLst/>
          </a:prstGeom>
          <a:solidFill>
            <a:srgbClr val="2F3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39812" y="2276856"/>
            <a:ext cx="13716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2203704"/>
            <a:ext cx="1225296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82034"/>
                </a:solidFill>
                <a:latin typeface="Arial"/>
              </a:rPr>
              <a:t>Discover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1" y="2560320"/>
            <a:ext cx="1591056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F6C82"/>
                </a:solidFill>
                <a:latin typeface="Arial"/>
              </a:rPr>
              <a:t>Search directory and browse opportunities.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7" y="2395728"/>
            <a:ext cx="34747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5F6C82"/>
                </a:solidFill>
                <a:latin typeface="Arial"/>
              </a:rPr>
              <a:t>-&gt;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56064" y="2057400"/>
            <a:ext cx="192024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802368" y="2221992"/>
            <a:ext cx="310896" cy="310896"/>
          </a:xfrm>
          <a:prstGeom prst="ellipse">
            <a:avLst/>
          </a:prstGeom>
          <a:solidFill>
            <a:srgbClr val="168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89236" y="2276856"/>
            <a:ext cx="13716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04704" y="2203704"/>
            <a:ext cx="1225296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82034"/>
                </a:solidFill>
                <a:latin typeface="Arial"/>
              </a:rPr>
              <a:t>Participate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0656" y="2560320"/>
            <a:ext cx="1591056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F6C82"/>
                </a:solidFill>
                <a:latin typeface="Arial"/>
              </a:rPr>
              <a:t>Pitch, chat, RSVP, attend, and record deals.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160520"/>
            <a:ext cx="10241280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82034"/>
                </a:solidFill>
                <a:latin typeface="Arial"/>
              </a:rPr>
              <a:t>The app is designed as an operational member workspace, not a static brochure. Users land on the dashboard and immediately see membership status, requests, meetings, notifications, and quick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389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F3FB8"/>
                </a:solidFill>
                <a:latin typeface="Arial"/>
              </a:rPr>
              <a:t>CORE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68096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82034"/>
                </a:solidFill>
                <a:latin typeface="Arial"/>
              </a:rPr>
              <a:t>Dashboard and daily member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61288"/>
            <a:ext cx="859536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F6C82"/>
                </a:solidFill>
                <a:latin typeface="Arial"/>
              </a:rPr>
              <a:t>The dashboard gives members the most important actions and community signals in one place.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E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37960"/>
            <a:ext cx="29260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5F6C82"/>
                </a:solidFill>
                <a:latin typeface="Arial"/>
              </a:rPr>
              <a:t>SB Connect - Client Feature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3774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>
                <a:solidFill>
                  <a:srgbClr val="5F6C82"/>
                </a:solidFill>
                <a:latin typeface="Arial"/>
              </a:rPr>
              <a:t>No Politics Only 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417320"/>
            <a:ext cx="2057400" cy="4434840"/>
          </a:xfrm>
          <a:prstGeom prst="roundRect">
            <a:avLst/>
          </a:prstGeom>
          <a:solidFill>
            <a:srgbClr val="16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32688" y="1581912"/>
            <a:ext cx="1837943" cy="4105655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1764792"/>
            <a:ext cx="147218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82034"/>
                </a:solidFill>
                <a:latin typeface="Arial"/>
              </a:rPr>
              <a:t>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5568" y="2185416"/>
            <a:ext cx="1472184" cy="40233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261872" y="2313432"/>
            <a:ext cx="146304" cy="146304"/>
          </a:xfrm>
          <a:prstGeom prst="ellipse">
            <a:avLst/>
          </a:prstGeom>
          <a:solidFill>
            <a:srgbClr val="168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08760" y="2313432"/>
            <a:ext cx="105156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5F6C82"/>
                </a:solidFill>
                <a:latin typeface="Arial"/>
              </a:rPr>
              <a:t>Membership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5568" y="2752344"/>
            <a:ext cx="1472184" cy="40233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61872" y="2880360"/>
            <a:ext cx="146304" cy="146304"/>
          </a:xfrm>
          <a:prstGeom prst="ellipse">
            <a:avLst/>
          </a:prstGeom>
          <a:solidFill>
            <a:srgbClr val="C99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08760" y="2880360"/>
            <a:ext cx="105156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5F6C82"/>
                </a:solidFill>
                <a:latin typeface="Arial"/>
              </a:rPr>
              <a:t>Requests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15568" y="3319272"/>
            <a:ext cx="1472184" cy="40233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261872" y="3447288"/>
            <a:ext cx="146304" cy="146304"/>
          </a:xfrm>
          <a:prstGeom prst="ellipse">
            <a:avLst/>
          </a:prstGeom>
          <a:solidFill>
            <a:srgbClr val="C44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08760" y="3447288"/>
            <a:ext cx="105156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5F6C82"/>
                </a:solidFill>
                <a:latin typeface="Arial"/>
              </a:rPr>
              <a:t>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123944"/>
            <a:ext cx="1472184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30" b="1">
                <a:solidFill>
                  <a:srgbClr val="182034"/>
                </a:solidFill>
                <a:latin typeface="Arial"/>
              </a:rPr>
              <a:t>Quick Actions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15568" y="4398264"/>
            <a:ext cx="1472184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88720" y="4466844"/>
            <a:ext cx="132588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F3FB8"/>
                </a:solidFill>
                <a:latin typeface="Arial"/>
              </a:rPr>
              <a:t>Create Request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5568" y="4782312"/>
            <a:ext cx="1472184" cy="292608"/>
          </a:xfrm>
          <a:prstGeom prst="roundRect">
            <a:avLst/>
          </a:prstGeom>
          <a:solidFill>
            <a:srgbClr val="E8F8F0"/>
          </a:solidFill>
          <a:ln w="12700">
            <a:solidFill>
              <a:srgbClr val="E8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4850892"/>
            <a:ext cx="132588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16865A"/>
                </a:solidFill>
                <a:latin typeface="Arial"/>
              </a:rPr>
              <a:t>Record Deal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1572768"/>
            <a:ext cx="23317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337560" y="1572768"/>
            <a:ext cx="2331720" cy="73152"/>
          </a:xfrm>
          <a:prstGeom prst="rect">
            <a:avLst/>
          </a:prstGeom>
          <a:solidFill>
            <a:srgbClr val="168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20440" y="1755648"/>
            <a:ext cx="196596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Membership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8728" y="2194560"/>
            <a:ext cx="1929384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 dirty="0">
                <a:solidFill>
                  <a:srgbClr val="5F6C82"/>
                </a:solidFill>
                <a:latin typeface="Arial"/>
              </a:rPr>
              <a:t>Shows active, expired, or inactive state plus renewal countdown.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97880" y="1572768"/>
            <a:ext cx="23317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97880" y="1572768"/>
            <a:ext cx="2331720" cy="73152"/>
          </a:xfrm>
          <a:prstGeom prst="rect">
            <a:avLst/>
          </a:prstGeom>
          <a:solidFill>
            <a:srgbClr val="C99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80760" y="1755648"/>
            <a:ext cx="196596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Requests snapshot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9048" y="2194560"/>
            <a:ext cx="1929384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Highlights own requests, open opportunities, and new request indicators.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58200" y="1572768"/>
            <a:ext cx="23317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458200" y="1572768"/>
            <a:ext cx="2331720" cy="73152"/>
          </a:xfrm>
          <a:prstGeom prst="rect">
            <a:avLst/>
          </a:prstGeom>
          <a:solidFill>
            <a:srgbClr val="C44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41080" y="1755648"/>
            <a:ext cx="196596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Notifications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59368" y="2194560"/>
            <a:ext cx="1929384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Unread alerts for issue resolution and new pitches.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37560" y="2971800"/>
            <a:ext cx="23317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337560" y="2971800"/>
            <a:ext cx="2331720" cy="73152"/>
          </a:xfrm>
          <a:prstGeom prst="rect">
            <a:avLst/>
          </a:prstGeom>
          <a:solidFill>
            <a:srgbClr val="2F3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20440" y="3154680"/>
            <a:ext cx="196596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Quick actions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38728" y="3593592"/>
            <a:ext cx="1929384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Create request, view profile, and record business given.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97880" y="2971800"/>
            <a:ext cx="23317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897880" y="2971800"/>
            <a:ext cx="2331720" cy="73152"/>
          </a:xfrm>
          <a:prstGeom prst="rect">
            <a:avLst/>
          </a:prstGeom>
          <a:solidFill>
            <a:srgbClr val="B53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80760" y="3154680"/>
            <a:ext cx="196596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Leaderboard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9048" y="3593592"/>
            <a:ext cx="1929384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Ranks contributors by business value and deal count.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58200" y="2971800"/>
            <a:ext cx="23317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458200" y="2971800"/>
            <a:ext cx="2331720" cy="73152"/>
          </a:xfrm>
          <a:prstGeom prst="rect">
            <a:avLst/>
          </a:prstGeom>
          <a:solidFill>
            <a:srgbClr val="168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41080" y="3154680"/>
            <a:ext cx="196596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Meetings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59368" y="3593592"/>
            <a:ext cx="1929384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Upcoming meetings, RSVP buttons, and attendance warnings.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37560" y="4800600"/>
            <a:ext cx="768096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82034"/>
                </a:solidFill>
                <a:latin typeface="Arial"/>
              </a:rPr>
              <a:t>Client value: members need fewer instructions because the dashboard continuously points them toward the next useful 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389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F3FB8"/>
                </a:solidFill>
                <a:latin typeface="Arial"/>
              </a:rPr>
              <a:t>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68096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82034"/>
                </a:solidFill>
                <a:latin typeface="Arial"/>
              </a:rPr>
              <a:t>Business profiles and member directory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61288"/>
            <a:ext cx="859536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F6C82"/>
                </a:solidFill>
                <a:latin typeface="Arial"/>
              </a:rPr>
              <a:t>Each member gets a searchable profile that represents their business inside the community.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E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37960"/>
            <a:ext cx="29260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5F6C82"/>
                </a:solidFill>
                <a:latin typeface="Arial"/>
              </a:rPr>
              <a:t>SB Connect - Client Feature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3774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>
                <a:solidFill>
                  <a:srgbClr val="5F6C82"/>
                </a:solidFill>
                <a:latin typeface="Arial"/>
              </a:rPr>
              <a:t>No Politics Only 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91056"/>
            <a:ext cx="24688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591056"/>
            <a:ext cx="2468880" cy="73152"/>
          </a:xfrm>
          <a:prstGeom prst="rect">
            <a:avLst/>
          </a:prstGeom>
          <a:solidFill>
            <a:srgbClr val="2F3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773936"/>
            <a:ext cx="21031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Profile creation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12848"/>
            <a:ext cx="206654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Owner details, phone, company name, categories, size, location, email, website, and description.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1591056"/>
            <a:ext cx="24688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01568" y="1591056"/>
            <a:ext cx="2468880" cy="73152"/>
          </a:xfrm>
          <a:prstGeom prst="rect">
            <a:avLst/>
          </a:prstGeom>
          <a:solidFill>
            <a:srgbClr val="B53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84448" y="1773936"/>
            <a:ext cx="21031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Rich media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212848"/>
            <a:ext cx="206654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Profile photo plus up to five catalog files such as PDF or images.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71616" y="1591056"/>
            <a:ext cx="24688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71616" y="1591056"/>
            <a:ext cx="2468880" cy="73152"/>
          </a:xfrm>
          <a:prstGeom prst="rect">
            <a:avLst/>
          </a:prstGeom>
          <a:solidFill>
            <a:srgbClr val="168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54496" y="1773936"/>
            <a:ext cx="21031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Search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3" y="2212848"/>
            <a:ext cx="206654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Categories, location, keywords, membership status, and verification badge.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41664" y="1591056"/>
            <a:ext cx="24688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41664" y="1591056"/>
            <a:ext cx="2468880" cy="73152"/>
          </a:xfrm>
          <a:prstGeom prst="rect">
            <a:avLst/>
          </a:prstGeom>
          <a:solidFill>
            <a:srgbClr val="C99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24544" y="1773936"/>
            <a:ext cx="21031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QR sharing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832" y="2212848"/>
            <a:ext cx="2066544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Each profile has a QR-ready profile URL for offline networking.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566160"/>
            <a:ext cx="3408883" cy="524256"/>
          </a:xfrm>
          <a:prstGeom prst="rect">
            <a:avLst/>
          </a:prstGeom>
          <a:solidFill>
            <a:srgbClr val="EFF3FF"/>
          </a:solidFill>
          <a:ln w="889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3675887"/>
            <a:ext cx="3207715" cy="3779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182034"/>
                </a:solidFill>
                <a:latin typeface="Arial"/>
              </a:rPr>
              <a:t>Directory search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31843" y="3566160"/>
            <a:ext cx="3834993" cy="524256"/>
          </a:xfrm>
          <a:prstGeom prst="rect">
            <a:avLst/>
          </a:prstGeom>
          <a:solidFill>
            <a:srgbClr val="EFF3FF"/>
          </a:solidFill>
          <a:ln w="889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41571" y="3675887"/>
            <a:ext cx="3633825" cy="3779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182034"/>
                </a:solidFill>
                <a:latin typeface="Arial"/>
              </a:rPr>
              <a:t>Member benefit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66836" y="3566160"/>
            <a:ext cx="3408883" cy="524256"/>
          </a:xfrm>
          <a:prstGeom prst="rect">
            <a:avLst/>
          </a:prstGeom>
          <a:solidFill>
            <a:srgbClr val="EFF3FF"/>
          </a:solidFill>
          <a:ln w="889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76564" y="3675887"/>
            <a:ext cx="3207715" cy="3779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182034"/>
                </a:solidFill>
                <a:latin typeface="Arial"/>
              </a:rPr>
              <a:t>Admin benefit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090416"/>
            <a:ext cx="3408883" cy="524256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" y="4191000"/>
            <a:ext cx="3207715" cy="4145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Company name, category, keyword, location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31843" y="4090416"/>
            <a:ext cx="3834993" cy="524256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41571" y="4191000"/>
            <a:ext cx="3633825" cy="4145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Find credible vendors, partners, and service providers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66836" y="4090416"/>
            <a:ext cx="3408883" cy="524256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76564" y="4191000"/>
            <a:ext cx="3207715" cy="4145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Cleaner network visibility and stronger business matching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4614672"/>
            <a:ext cx="3408883" cy="524256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2688" y="4715256"/>
            <a:ext cx="3207715" cy="4145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Verified and membership status badges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31843" y="4614672"/>
            <a:ext cx="3834993" cy="524256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41571" y="4715256"/>
            <a:ext cx="3633825" cy="4145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Trust signals while browsing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66836" y="4614672"/>
            <a:ext cx="3408883" cy="524256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76564" y="4715256"/>
            <a:ext cx="3207715" cy="4145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Governance is visible without extra explanation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389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F3FB8"/>
                </a:solidFill>
                <a:latin typeface="Arial"/>
              </a:rPr>
              <a:t>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68096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82034"/>
                </a:solidFill>
                <a:latin typeface="Arial"/>
              </a:rPr>
              <a:t>Requests, pitches, and 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61288"/>
            <a:ext cx="859536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F6C82"/>
                </a:solidFill>
                <a:latin typeface="Arial"/>
              </a:rPr>
              <a:t>The request marketplace turns member needs into trackable business opportunities.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E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37960"/>
            <a:ext cx="29260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5F6C82"/>
                </a:solidFill>
                <a:latin typeface="Arial"/>
              </a:rPr>
              <a:t>SB Connect - Client Feature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3774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>
                <a:solidFill>
                  <a:srgbClr val="5F6C82"/>
                </a:solidFill>
                <a:latin typeface="Arial"/>
              </a:rPr>
              <a:t>No Politics Only 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74519"/>
            <a:ext cx="1874519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9536" y="2039112"/>
            <a:ext cx="310896" cy="310896"/>
          </a:xfrm>
          <a:prstGeom prst="ellipse">
            <a:avLst/>
          </a:prstGeom>
          <a:solidFill>
            <a:srgbClr val="2F3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6404" y="2093976"/>
            <a:ext cx="13716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020824"/>
            <a:ext cx="1179575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82034"/>
                </a:solidFill>
                <a:latin typeface="Arial"/>
              </a:rPr>
              <a:t>Post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377439"/>
            <a:ext cx="1545336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F6C82"/>
                </a:solidFill>
                <a:latin typeface="Arial"/>
              </a:rPr>
              <a:t>Title, category, description, budget, deadline.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212848"/>
            <a:ext cx="34747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5F6C82"/>
                </a:solidFill>
                <a:latin typeface="Arial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99232" y="1874519"/>
            <a:ext cx="1874519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145536" y="2039112"/>
            <a:ext cx="310896" cy="310896"/>
          </a:xfrm>
          <a:prstGeom prst="ellipse">
            <a:avLst/>
          </a:prstGeom>
          <a:solidFill>
            <a:srgbClr val="C99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32403" y="2093976"/>
            <a:ext cx="13716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020824"/>
            <a:ext cx="1179575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82034"/>
                </a:solidFill>
                <a:latin typeface="Arial"/>
              </a:rPr>
              <a:t>Browse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3824" y="2377439"/>
            <a:ext cx="1545336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F6C82"/>
                </a:solidFill>
                <a:latin typeface="Arial"/>
              </a:rPr>
              <a:t>Members filter by category and status.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212848"/>
            <a:ext cx="34747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5F6C82"/>
                </a:solidFill>
                <a:latin typeface="Arial"/>
              </a:rPr>
              <a:t>-&gt;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85232" y="1874519"/>
            <a:ext cx="1874519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431536" y="2039112"/>
            <a:ext cx="310896" cy="310896"/>
          </a:xfrm>
          <a:prstGeom prst="ellipse">
            <a:avLst/>
          </a:prstGeom>
          <a:solidFill>
            <a:srgbClr val="168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18404" y="2093976"/>
            <a:ext cx="13716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3872" y="2020824"/>
            <a:ext cx="1179575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82034"/>
                </a:solidFill>
                <a:latin typeface="Arial"/>
              </a:rPr>
              <a:t>Pitch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9824" y="2377439"/>
            <a:ext cx="1545336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F6C82"/>
                </a:solidFill>
                <a:latin typeface="Arial"/>
              </a:rPr>
              <a:t>Interested member sends message and contact.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212848"/>
            <a:ext cx="34747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5F6C82"/>
                </a:solidFill>
                <a:latin typeface="Arial"/>
              </a:rPr>
              <a:t>-&gt;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71231" y="1874519"/>
            <a:ext cx="1874519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717536" y="2039112"/>
            <a:ext cx="310896" cy="310896"/>
          </a:xfrm>
          <a:prstGeom prst="ellipse">
            <a:avLst/>
          </a:prstGeom>
          <a:solidFill>
            <a:srgbClr val="B53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04404" y="2093976"/>
            <a:ext cx="13716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9871" y="2020824"/>
            <a:ext cx="1179575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82034"/>
                </a:solidFill>
                <a:latin typeface="Arial"/>
              </a:rPr>
              <a:t>Award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35823" y="2377439"/>
            <a:ext cx="1545336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F6C82"/>
                </a:solidFill>
                <a:latin typeface="Arial"/>
              </a:rPr>
              <a:t>Owner/admin awards and closes request.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2212848"/>
            <a:ext cx="34747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5F6C82"/>
                </a:solidFill>
                <a:latin typeface="Arial"/>
              </a:rPr>
              <a:t>-&gt;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57232" y="1874519"/>
            <a:ext cx="1874519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003536" y="2039112"/>
            <a:ext cx="310896" cy="310896"/>
          </a:xfrm>
          <a:prstGeom prst="ellipse">
            <a:avLst/>
          </a:prstGeom>
          <a:solidFill>
            <a:srgbClr val="168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90404" y="2093976"/>
            <a:ext cx="13716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05872" y="2020824"/>
            <a:ext cx="1179575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82034"/>
                </a:solidFill>
                <a:latin typeface="Arial"/>
              </a:rPr>
              <a:t>Track value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21824" y="2377439"/>
            <a:ext cx="1545336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F6C82"/>
                </a:solidFill>
                <a:latin typeface="Arial"/>
              </a:rPr>
              <a:t>Deal feeds leaderboard and reports.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3886200"/>
            <a:ext cx="3200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400" y="3886200"/>
            <a:ext cx="3200400" cy="73152"/>
          </a:xfrm>
          <a:prstGeom prst="rect">
            <a:avLst/>
          </a:prstGeom>
          <a:solidFill>
            <a:srgbClr val="2F3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97280" y="4069080"/>
            <a:ext cx="28346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For members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" y="4507992"/>
            <a:ext cx="2798064" cy="265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More qualified opportunities, direct phone follow-up, and chat-based networking.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80560" y="3886200"/>
            <a:ext cx="3200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480560" y="3886200"/>
            <a:ext cx="3200400" cy="73152"/>
          </a:xfrm>
          <a:prstGeom prst="rect">
            <a:avLst/>
          </a:prstGeom>
          <a:solidFill>
            <a:srgbClr val="168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663440" y="4069080"/>
            <a:ext cx="28346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For organizers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81728" y="4507992"/>
            <a:ext cx="2798064" cy="265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Measurable deal creation and proof of community impact.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3886200"/>
            <a:ext cx="3200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46720" y="3886200"/>
            <a:ext cx="3200400" cy="73152"/>
          </a:xfrm>
          <a:prstGeom prst="rect">
            <a:avLst/>
          </a:prstGeom>
          <a:solidFill>
            <a:srgbClr val="C99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0" y="4069080"/>
            <a:ext cx="28346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For reporting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47888" y="4507992"/>
            <a:ext cx="2798064" cy="265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Deal count and business value are visible through leaderboard and audits.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389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F3FB8"/>
                </a:solidFill>
                <a:latin typeface="Arial"/>
              </a:rPr>
              <a:t>PARTICIPATION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68096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82034"/>
                </a:solidFill>
                <a:latin typeface="Arial"/>
              </a:rPr>
              <a:t>Meetings, RSVP, and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61288"/>
            <a:ext cx="859536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F6C82"/>
                </a:solidFill>
                <a:latin typeface="Arial"/>
              </a:rPr>
              <a:t>SB Connect supports recurring community meetings with digital attendance workflows.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E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37960"/>
            <a:ext cx="29260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5F6C82"/>
                </a:solidFill>
                <a:latin typeface="Arial"/>
              </a:rPr>
              <a:t>SB Connect - Client Feature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3774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>
                <a:solidFill>
                  <a:srgbClr val="5F6C82"/>
                </a:solidFill>
                <a:latin typeface="Arial"/>
              </a:rPr>
              <a:t>No Politics Only 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45920"/>
            <a:ext cx="2468880" cy="73152"/>
          </a:xfrm>
          <a:prstGeom prst="rect">
            <a:avLst/>
          </a:prstGeom>
          <a:solidFill>
            <a:srgbClr val="2F3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828800"/>
            <a:ext cx="21031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Meeting creation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267712"/>
            <a:ext cx="2066544" cy="3566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Admins create meeting date, label, location, active state, and QR attendance URL.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645920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29000" y="1645920"/>
            <a:ext cx="2468880" cy="73152"/>
          </a:xfrm>
          <a:prstGeom prst="rect">
            <a:avLst/>
          </a:prstGeom>
          <a:solidFill>
            <a:srgbClr val="168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1880" y="1828800"/>
            <a:ext cx="21031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Member RSVP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267712"/>
            <a:ext cx="2066544" cy="3566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Members respond Yes or No from upcoming meeting cards on dashboard.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645920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1645920"/>
            <a:ext cx="2468880" cy="73152"/>
          </a:xfrm>
          <a:prstGeom prst="rect">
            <a:avLst/>
          </a:prstGeom>
          <a:solidFill>
            <a:srgbClr val="C99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1828800"/>
            <a:ext cx="21031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Attendance marking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267712"/>
            <a:ext cx="2066544" cy="3566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Members mark attendance or scan QR link; duplicate attendance is prevented.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1645920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32520" y="1645920"/>
            <a:ext cx="2468880" cy="73152"/>
          </a:xfrm>
          <a:prstGeom prst="rect">
            <a:avLst/>
          </a:prstGeom>
          <a:solidFill>
            <a:srgbClr val="C44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15400" y="1828800"/>
            <a:ext cx="21031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2267712"/>
            <a:ext cx="2066544" cy="3566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A six-month attendance rule checks whether a member attended at least three meetings.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675887"/>
            <a:ext cx="3497580" cy="457200"/>
          </a:xfrm>
          <a:prstGeom prst="rect">
            <a:avLst/>
          </a:prstGeom>
          <a:solidFill>
            <a:srgbClr val="EFF3FF"/>
          </a:solidFill>
          <a:ln w="889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4128" y="3785615"/>
            <a:ext cx="3296412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182034"/>
                </a:solidFill>
                <a:latin typeface="Arial"/>
              </a:rPr>
              <a:t>End user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1980" y="3675887"/>
            <a:ext cx="3497580" cy="457200"/>
          </a:xfrm>
          <a:prstGeom prst="rect">
            <a:avLst/>
          </a:prstGeom>
          <a:solidFill>
            <a:srgbClr val="EFF3FF"/>
          </a:solidFill>
          <a:ln w="889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21708" y="3785615"/>
            <a:ext cx="3296412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182034"/>
                </a:solidFill>
                <a:latin typeface="Arial"/>
              </a:rPr>
              <a:t>Admin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09560" y="3675887"/>
            <a:ext cx="3291840" cy="457200"/>
          </a:xfrm>
          <a:prstGeom prst="rect">
            <a:avLst/>
          </a:prstGeom>
          <a:solidFill>
            <a:srgbClr val="EFF3FF"/>
          </a:solidFill>
          <a:ln w="889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19288" y="3785615"/>
            <a:ext cx="3090672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182034"/>
                </a:solidFill>
                <a:latin typeface="Arial"/>
              </a:rPr>
              <a:t>Leadership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4133087"/>
            <a:ext cx="349758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4128" y="4233672"/>
            <a:ext cx="329641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Knows upcoming meetings and attendance history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11980" y="4133087"/>
            <a:ext cx="349758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21708" y="4233672"/>
            <a:ext cx="329641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Sees attendance and RSVP lists with CSV export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09560" y="4133087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19288" y="4233672"/>
            <a:ext cx="309067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Tracks engagement and member participation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4590288"/>
            <a:ext cx="349758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24128" y="4690872"/>
            <a:ext cx="329641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Receives warnings if compliance is low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11980" y="4590288"/>
            <a:ext cx="349758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21708" y="4690872"/>
            <a:ext cx="329641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Gets QR code for meeting attendance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09560" y="4590288"/>
            <a:ext cx="3291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19288" y="4690872"/>
            <a:ext cx="309067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Can align benefits with active participation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389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F3FB8"/>
                </a:solidFill>
                <a:latin typeface="Arial"/>
              </a:rPr>
              <a:t>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68096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82034"/>
                </a:solidFill>
                <a:latin typeface="Arial"/>
              </a:rPr>
              <a:t>Communication, support, and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61288"/>
            <a:ext cx="859536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F6C82"/>
                </a:solidFill>
                <a:latin typeface="Arial"/>
              </a:rPr>
              <a:t>The app includes direct messaging and a built-in issue reporting loop.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E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37960"/>
            <a:ext cx="29260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5F6C82"/>
                </a:solidFill>
                <a:latin typeface="Arial"/>
              </a:rPr>
              <a:t>SB Connect - Client Feature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3774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>
                <a:solidFill>
                  <a:srgbClr val="5F6C82"/>
                </a:solidFill>
                <a:latin typeface="Arial"/>
              </a:rPr>
              <a:t>No Politics Only 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554480"/>
            <a:ext cx="26517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54480"/>
            <a:ext cx="2651760" cy="73152"/>
          </a:xfrm>
          <a:prstGeom prst="rect">
            <a:avLst/>
          </a:prstGeom>
          <a:solidFill>
            <a:srgbClr val="2F3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737360"/>
            <a:ext cx="2286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Member 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176272"/>
            <a:ext cx="2249424" cy="4206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One-to-one realtime conversations, unread counts, read status, and 30-day cleanup.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554480"/>
            <a:ext cx="26517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703320" y="1554480"/>
            <a:ext cx="2651760" cy="73152"/>
          </a:xfrm>
          <a:prstGeom prst="rect">
            <a:avLst/>
          </a:prstGeom>
          <a:solidFill>
            <a:srgbClr val="C44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86200" y="1737360"/>
            <a:ext cx="2286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User notifications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4487" y="2176272"/>
            <a:ext cx="2249424" cy="4206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New pitch alerts and issue resolution messages appear in the dashboard.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1554480"/>
            <a:ext cx="26517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37960" y="1554480"/>
            <a:ext cx="2651760" cy="73152"/>
          </a:xfrm>
          <a:prstGeom prst="rect">
            <a:avLst/>
          </a:prstGeom>
          <a:solidFill>
            <a:srgbClr val="C99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20840" y="1737360"/>
            <a:ext cx="2286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Report issue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2176272"/>
            <a:ext cx="2249424" cy="4206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Floating support button lets users submit page, subject, and issue description.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1554480"/>
            <a:ext cx="192024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72600" y="1554480"/>
            <a:ext cx="1920240" cy="73152"/>
          </a:xfrm>
          <a:prstGeom prst="rect">
            <a:avLst/>
          </a:prstGeom>
          <a:solidFill>
            <a:srgbClr val="168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55480" y="1737360"/>
            <a:ext cx="15544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Resolution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2176272"/>
            <a:ext cx="1517904" cy="4206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Admins resolve reports and notify users with notes.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794760"/>
            <a:ext cx="36576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82034"/>
                </a:solidFill>
                <a:latin typeface="Arial"/>
              </a:rPr>
              <a:t>Why this matters to the client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187952"/>
            <a:ext cx="9875520" cy="621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F6C82"/>
                </a:solidFill>
                <a:latin typeface="Arial"/>
              </a:rPr>
              <a:t>Support is built into the operating experience. Members do not need a separate helpdesk link to report problems, and admins can close the loop from the admin panel.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389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F3FB8"/>
                </a:solidFill>
                <a:latin typeface="Arial"/>
              </a:rPr>
              <a:t>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68096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82034"/>
                </a:solidFill>
                <a:latin typeface="Arial"/>
              </a:rPr>
              <a:t>Admin console and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61288"/>
            <a:ext cx="859536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F6C82"/>
                </a:solidFill>
                <a:latin typeface="Arial"/>
              </a:rPr>
              <a:t>Admins have one place to manage members, meetings, requests, reports, exports, and system health.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E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37960"/>
            <a:ext cx="29260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5F6C82"/>
                </a:solidFill>
                <a:latin typeface="Arial"/>
              </a:rPr>
              <a:t>SB Connect - Client Feature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3774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>
                <a:solidFill>
                  <a:srgbClr val="5F6C82"/>
                </a:solidFill>
                <a:latin typeface="Arial"/>
              </a:rPr>
              <a:t>No Politics Only 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24871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554480"/>
            <a:ext cx="2487168" cy="73152"/>
          </a:xfrm>
          <a:prstGeom prst="rect">
            <a:avLst/>
          </a:prstGeom>
          <a:solidFill>
            <a:srgbClr val="168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737360"/>
            <a:ext cx="2121408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Approvals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176272"/>
            <a:ext cx="2084832" cy="2926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Verify business profiles and manage pending members.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11296" y="1554480"/>
            <a:ext cx="24871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11296" y="1554480"/>
            <a:ext cx="2487168" cy="73152"/>
          </a:xfrm>
          <a:prstGeom prst="rect">
            <a:avLst/>
          </a:prstGeom>
          <a:solidFill>
            <a:srgbClr val="2F3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94176" y="1737360"/>
            <a:ext cx="2121408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3" y="2176272"/>
            <a:ext cx="2084832" cy="2926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Close, delete, or award deals from business requests.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1554480"/>
            <a:ext cx="24871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64224" y="1554480"/>
            <a:ext cx="2487168" cy="73152"/>
          </a:xfrm>
          <a:prstGeom prst="rect">
            <a:avLst/>
          </a:prstGeom>
          <a:solidFill>
            <a:srgbClr val="C99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47104" y="1737360"/>
            <a:ext cx="2121408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Meetings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176272"/>
            <a:ext cx="2084832" cy="2926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Create meetings, view QR, RSVPs, attendance, and CSV exports.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17152" y="1554480"/>
            <a:ext cx="24871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17152" y="1554480"/>
            <a:ext cx="2487168" cy="73152"/>
          </a:xfrm>
          <a:prstGeom prst="rect">
            <a:avLst/>
          </a:prstGeom>
          <a:solidFill>
            <a:srgbClr val="B53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00032" y="1737360"/>
            <a:ext cx="2121408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176272"/>
            <a:ext cx="2084832" cy="2926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Publish announcements and meeting messages.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063239"/>
            <a:ext cx="24871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" y="3063239"/>
            <a:ext cx="2487168" cy="73152"/>
          </a:xfrm>
          <a:prstGeom prst="rect">
            <a:avLst/>
          </a:prstGeom>
          <a:solidFill>
            <a:srgbClr val="C44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7" y="3246120"/>
            <a:ext cx="2121408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Issue 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685031"/>
            <a:ext cx="2084832" cy="2926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Review, resolve, notify user, or delete submitted reports.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11296" y="3063239"/>
            <a:ext cx="24871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511296" y="3063239"/>
            <a:ext cx="2487168" cy="73152"/>
          </a:xfrm>
          <a:prstGeom prst="rect">
            <a:avLst/>
          </a:prstGeom>
          <a:solidFill>
            <a:srgbClr val="168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94176" y="3246120"/>
            <a:ext cx="2121408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Audit &amp; Health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12463" y="3685031"/>
            <a:ext cx="2084832" cy="2926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Generate audit reports and run data/system diagnostics.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64224" y="3063239"/>
            <a:ext cx="24871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64224" y="3063239"/>
            <a:ext cx="2487168" cy="73152"/>
          </a:xfrm>
          <a:prstGeom prst="rect">
            <a:avLst/>
          </a:prstGeom>
          <a:solidFill>
            <a:srgbClr val="2F3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47104" y="3246120"/>
            <a:ext cx="2121408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Webhook Sync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3685031"/>
            <a:ext cx="2084832" cy="2926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Export app data to webhook/Google Sheets automation.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17152" y="3063239"/>
            <a:ext cx="24871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217152" y="3063239"/>
            <a:ext cx="2487168" cy="73152"/>
          </a:xfrm>
          <a:prstGeom prst="rect">
            <a:avLst/>
          </a:prstGeom>
          <a:solidFill>
            <a:srgbClr val="B53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00032" y="3246120"/>
            <a:ext cx="2121408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82034"/>
                </a:solidFill>
                <a:latin typeface="Arial"/>
              </a:rPr>
              <a:t>Roles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3685031"/>
            <a:ext cx="2084832" cy="2926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19" b="0">
                <a:solidFill>
                  <a:srgbClr val="5F6C82"/>
                </a:solidFill>
                <a:latin typeface="Arial"/>
              </a:rPr>
              <a:t>Promote, view, and manage admin users.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389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F3FB8"/>
                </a:solidFill>
                <a:latin typeface="Arial"/>
              </a:rPr>
              <a:t>UX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68096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82034"/>
                </a:solidFill>
                <a:latin typeface="Arial"/>
              </a:rPr>
              <a:t>Implemented controls and 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61288"/>
            <a:ext cx="859536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F6C82"/>
                </a:solidFill>
                <a:latin typeface="Arial"/>
              </a:rPr>
              <a:t>The interface uses familiar controls that support fast member workflows.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E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37960"/>
            <a:ext cx="29260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5F6C82"/>
                </a:solidFill>
                <a:latin typeface="Arial"/>
              </a:rPr>
              <a:t>SB Connect - Client Feature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3774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>
                <a:solidFill>
                  <a:srgbClr val="5F6C82"/>
                </a:solidFill>
                <a:latin typeface="Arial"/>
              </a:rPr>
              <a:t>No Politics Only Business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508760"/>
            <a:ext cx="2343607" cy="483325"/>
          </a:xfrm>
          <a:prstGeom prst="rect">
            <a:avLst/>
          </a:prstGeom>
          <a:solidFill>
            <a:srgbClr val="EFF3FF"/>
          </a:solidFill>
          <a:ln w="889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618488"/>
            <a:ext cx="2142439" cy="3370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182034"/>
                </a:solidFill>
                <a:latin typeface="Arial"/>
              </a:rPr>
              <a:t>Control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0847" y="1508760"/>
            <a:ext cx="4580686" cy="483325"/>
          </a:xfrm>
          <a:prstGeom prst="rect">
            <a:avLst/>
          </a:prstGeom>
          <a:solidFill>
            <a:srgbClr val="EFF3FF"/>
          </a:solidFill>
          <a:ln w="889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30575" y="1618488"/>
            <a:ext cx="4379518" cy="3370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182034"/>
                </a:solidFill>
                <a:latin typeface="Arial"/>
              </a:rPr>
              <a:t>Examples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01533" y="1508760"/>
            <a:ext cx="3728465" cy="483325"/>
          </a:xfrm>
          <a:prstGeom prst="rect">
            <a:avLst/>
          </a:prstGeom>
          <a:solidFill>
            <a:srgbClr val="EFF3FF"/>
          </a:solidFill>
          <a:ln w="889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1261" y="1618488"/>
            <a:ext cx="3527297" cy="3370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182034"/>
                </a:solidFill>
                <a:latin typeface="Arial"/>
              </a:rPr>
              <a:t>User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992085"/>
            <a:ext cx="2343607" cy="483325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2092669"/>
            <a:ext cx="2142439" cy="373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Forms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20847" y="1992085"/>
            <a:ext cx="4580686" cy="483325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30575" y="2092669"/>
            <a:ext cx="4379518" cy="373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Login, register, profile, request, meeting, webhook, issue report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01533" y="1992085"/>
            <a:ext cx="3728465" cy="483325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1261" y="2092669"/>
            <a:ext cx="3527297" cy="373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Users can complete work without leaving the app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2475411"/>
            <a:ext cx="2343607" cy="483325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2575995"/>
            <a:ext cx="2142439" cy="373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Selection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20847" y="2475411"/>
            <a:ext cx="4580686" cy="483325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30575" y="2575995"/>
            <a:ext cx="4379518" cy="373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Category buttons, dropdowns, date inputs, filter pills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01533" y="2475411"/>
            <a:ext cx="3728465" cy="483325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11261" y="2575995"/>
            <a:ext cx="3527297" cy="373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Simple filtering and structured data entry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958737"/>
            <a:ext cx="2343607" cy="483325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6968" y="3059321"/>
            <a:ext cx="2142439" cy="373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Media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20847" y="2958737"/>
            <a:ext cx="4580686" cy="483325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30575" y="3059321"/>
            <a:ext cx="4379518" cy="373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Photo upload, catalog upload, QR profile and attendance links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01533" y="2958737"/>
            <a:ext cx="3728465" cy="483325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11261" y="3059321"/>
            <a:ext cx="3527297" cy="373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Profiles become richer and meetings work offline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3442062"/>
            <a:ext cx="2343607" cy="483325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6968" y="3542646"/>
            <a:ext cx="2142439" cy="373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Feedback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20847" y="3442062"/>
            <a:ext cx="4580686" cy="483325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30575" y="3542646"/>
            <a:ext cx="4379518" cy="373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Badges, loading states, errors, success messages, notifications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01533" y="3442062"/>
            <a:ext cx="3728465" cy="483325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11261" y="3542646"/>
            <a:ext cx="3527297" cy="373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Members understand status and next steps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3925388"/>
            <a:ext cx="2343607" cy="483325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86968" y="4025972"/>
            <a:ext cx="2142439" cy="373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Navigation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20847" y="3925388"/>
            <a:ext cx="4580686" cy="483325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30575" y="4025972"/>
            <a:ext cx="4379518" cy="373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Desktop sidebar, mobile drawer, bottom navigation, clickable cards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01533" y="3925388"/>
            <a:ext cx="3728465" cy="483325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11261" y="4025972"/>
            <a:ext cx="3527297" cy="373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Responsive use across desktop and mobile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4408714"/>
            <a:ext cx="2343607" cy="483325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86968" y="4509298"/>
            <a:ext cx="2142439" cy="373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Admin actions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20847" y="4408714"/>
            <a:ext cx="4580686" cy="483325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30575" y="4509298"/>
            <a:ext cx="4379518" cy="373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CSV export, collapsible sections, confirmations, role 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01533" y="4408714"/>
            <a:ext cx="3728465" cy="483325"/>
          </a:xfrm>
          <a:prstGeom prst="rect">
            <a:avLst/>
          </a:prstGeom>
          <a:solidFill>
            <a:srgbClr val="FFFFFF"/>
          </a:solidFill>
          <a:ln w="762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11261" y="4509298"/>
            <a:ext cx="3527297" cy="373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5F6C82"/>
                </a:solidFill>
                <a:latin typeface="Arial"/>
              </a:rPr>
              <a:t>Operational tasks are organized and protected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38912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F3FB8"/>
                </a:solidFill>
                <a:latin typeface="Arial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68096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82034"/>
                </a:solidFill>
                <a:latin typeface="Arial"/>
              </a:rPr>
              <a:t>Recommended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61288"/>
            <a:ext cx="859536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F6C82"/>
                </a:solidFill>
                <a:latin typeface="Arial"/>
              </a:rPr>
              <a:t>The current app is a strong MVP; these additions would make it production-ready and easier to scale.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E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6537960"/>
            <a:ext cx="29260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5F6C82"/>
                </a:solidFill>
                <a:latin typeface="Arial"/>
              </a:rPr>
              <a:t>SB Connect - Client Feature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37960"/>
            <a:ext cx="237744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750" b="0">
                <a:solidFill>
                  <a:srgbClr val="5F6C82"/>
                </a:solidFill>
                <a:latin typeface="Arial"/>
              </a:rPr>
              <a:t>No Politics Only Business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1453896"/>
            <a:ext cx="347472" cy="347472"/>
          </a:xfrm>
          <a:prstGeom prst="ellipse">
            <a:avLst/>
          </a:prstGeom>
          <a:solidFill>
            <a:srgbClr val="168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1522476"/>
            <a:ext cx="128016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417320"/>
            <a:ext cx="2971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82034"/>
                </a:solidFill>
                <a:latin typeface="Arial"/>
              </a:rPr>
              <a:t>Complete payments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1426464"/>
            <a:ext cx="65836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C82"/>
                </a:solidFill>
                <a:latin typeface="Arial"/>
              </a:rPr>
              <a:t>Finish Razorpay membership payments, renewals, receipts, and reconciliation.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95144"/>
            <a:ext cx="347472" cy="347472"/>
          </a:xfrm>
          <a:prstGeom prst="ellipse">
            <a:avLst/>
          </a:prstGeom>
          <a:solidFill>
            <a:srgbClr val="2F3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8" y="2363724"/>
            <a:ext cx="128016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258568"/>
            <a:ext cx="2971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82034"/>
                </a:solidFill>
                <a:latin typeface="Arial"/>
              </a:rPr>
              <a:t>Move sensitive actions server-side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267712"/>
            <a:ext cx="65836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C82"/>
                </a:solidFill>
                <a:latin typeface="Arial"/>
              </a:rPr>
              <a:t>Use Cloud Functions for role changes, attendance validation, deal awarding, and payment webhooks.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136392"/>
            <a:ext cx="347472" cy="347472"/>
          </a:xfrm>
          <a:prstGeom prst="ellipse">
            <a:avLst/>
          </a:prstGeom>
          <a:solidFill>
            <a:srgbClr val="B53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8" y="3204972"/>
            <a:ext cx="128016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099816"/>
            <a:ext cx="2971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82034"/>
                </a:solidFill>
                <a:latin typeface="Arial"/>
              </a:rPr>
              <a:t>Add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3108960"/>
            <a:ext cx="65836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C82"/>
                </a:solidFill>
                <a:latin typeface="Arial"/>
              </a:rPr>
              <a:t>Dashboards for member growth, attendance trends, RSVP conversion, request closure, and deal value.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3977640"/>
            <a:ext cx="347472" cy="347472"/>
          </a:xfrm>
          <a:prstGeom prst="ellipse">
            <a:avLst/>
          </a:prstGeom>
          <a:solidFill>
            <a:srgbClr val="C99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408" y="4046220"/>
            <a:ext cx="128016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941064"/>
            <a:ext cx="2971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82034"/>
                </a:solidFill>
                <a:latin typeface="Arial"/>
              </a:rPr>
              <a:t>Strengthen data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3950208"/>
            <a:ext cx="65836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C82"/>
                </a:solidFill>
                <a:latin typeface="Arial"/>
              </a:rPr>
              <a:t>Normalize money values, server timestamps, backend cleanup jobs, and stronger validation rules.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" y="4818888"/>
            <a:ext cx="347472" cy="347472"/>
          </a:xfrm>
          <a:prstGeom prst="ellipse">
            <a:avLst/>
          </a:prstGeom>
          <a:solidFill>
            <a:srgbClr val="C44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8408" y="4887468"/>
            <a:ext cx="128016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782312"/>
            <a:ext cx="2971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82034"/>
                </a:solidFill>
                <a:latin typeface="Arial"/>
              </a:rPr>
              <a:t>Expand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4791456"/>
            <a:ext cx="65836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5F6C82"/>
                </a:solidFill>
                <a:latin typeface="Arial"/>
              </a:rPr>
              <a:t>Automated tests for auth, profile, requests, duplicate prevention, attendance, and admin permissions.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869680" y="-685800"/>
            <a:ext cx="4206240" cy="4206240"/>
          </a:xfrm>
          <a:prstGeom prst="ellipse">
            <a:avLst/>
          </a:prstGeom>
          <a:solidFill>
            <a:srgbClr val="B53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493776"/>
            <a:ext cx="74980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bconnec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03504"/>
            <a:ext cx="550790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417320"/>
            <a:ext cx="530352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Client takeaways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377439"/>
            <a:ext cx="201168" cy="201168"/>
          </a:xfrm>
          <a:prstGeom prst="ellipse">
            <a:avLst/>
          </a:prstGeom>
          <a:solidFill>
            <a:srgbClr val="E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331720"/>
            <a:ext cx="859536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EEF1FF"/>
                </a:solidFill>
                <a:latin typeface="Arial"/>
              </a:rPr>
              <a:t>SB Connect is ready to present as a practical membership and business networking MVP.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090672"/>
            <a:ext cx="201168" cy="201168"/>
          </a:xfrm>
          <a:prstGeom prst="ellipse">
            <a:avLst/>
          </a:prstGeom>
          <a:solidFill>
            <a:srgbClr val="E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98448" y="3044952"/>
            <a:ext cx="859536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EEF1FF"/>
                </a:solidFill>
                <a:latin typeface="Arial"/>
              </a:rPr>
              <a:t>The strongest user value is the combination of directory, requests, meetings, attendance, and deal tracking.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803903"/>
            <a:ext cx="201168" cy="201168"/>
          </a:xfrm>
          <a:prstGeom prst="ellipse">
            <a:avLst/>
          </a:prstGeom>
          <a:solidFill>
            <a:srgbClr val="E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98448" y="3758183"/>
            <a:ext cx="859536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EEF1FF"/>
                </a:solidFill>
                <a:latin typeface="Arial"/>
              </a:rPr>
              <a:t>Admin operations are broad enough for real community management, including support reports and data exports.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517136"/>
            <a:ext cx="201168" cy="201168"/>
          </a:xfrm>
          <a:prstGeom prst="ellipse">
            <a:avLst/>
          </a:prstGeom>
          <a:solidFill>
            <a:srgbClr val="E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98448" y="4471416"/>
            <a:ext cx="859536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EEF1FF"/>
                </a:solidFill>
                <a:latin typeface="Arial"/>
              </a:rPr>
              <a:t>The best next investment is production hardening: payments, backend validation, analytics, and tests.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5742432"/>
            <a:ext cx="4480560" cy="292608"/>
          </a:xfrm>
          <a:prstGeom prst="roundRect">
            <a:avLst/>
          </a:prstGeom>
          <a:solidFill>
            <a:srgbClr val="EEF1FF"/>
          </a:solidFill>
          <a:ln w="12700">
            <a:solidFill>
              <a:srgbClr val="EE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5811012"/>
            <a:ext cx="4334256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F3FB8"/>
                </a:solidFill>
                <a:latin typeface="Arial"/>
              </a:rPr>
              <a:t>Business Network - Membership - Attendance - Admin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1480</Words>
  <Application>Microsoft Macintosh PowerPoint</Application>
  <PresentationFormat>Widescreen</PresentationFormat>
  <Paragraphs>246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Kiran Tej</cp:lastModifiedBy>
  <cp:revision>2</cp:revision>
  <dcterms:created xsi:type="dcterms:W3CDTF">2013-01-27T09:14:16Z</dcterms:created>
  <dcterms:modified xsi:type="dcterms:W3CDTF">2026-07-10T19:18:18Z</dcterms:modified>
  <cp:category/>
</cp:coreProperties>
</file>